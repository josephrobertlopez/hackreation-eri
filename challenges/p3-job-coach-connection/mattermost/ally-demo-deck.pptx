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Open with the problem in one sentence: employees with disabilities often find it hard to ask for help, and job coaches cannot be at every worksite. Ally is our answer: a fast first response from an AI, with the coach always in the chat. Say it is a prototype with fictional people.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ERI's own words. This is the problem they gave us. Do not add statistics we have not sourced.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three roles. Stress that Ally is clearly labeled as an AI in the chat, and the coach is a person who can see and override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about 0:20-1:15. Switch to the iPhone. Client types or dictates the first question, then the machine problem. Then the coach replies in the chat so the audience sees the coach is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1:15-1:55. Attach the printed fake schedule photo on the iPhone. If the reading is wrong or slow, say: this is why Ally always tells the client to check with the coach, and let the coach confirm. Never use a real schedule.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1:55-2:10. Client types: I feel sick. Show the safety message. Point out there is no advice, only the 911 line and the coach.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2:10-2:45. Switch to the employer's screen in the Everyone channel. Ask how the client is doing, then ask for the mail cart steps. Point out the support tool is not a monitoring tool: the client's private help stays between the client and the coach.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these tools are, not that we are accessible. Only claim what you tested on the device before presenting. If you ran VoiceOver or Speak Screen in rehearsal, say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2:45-3:00. Be honest about what is real. DVR requires the client's consent before any AI tool sees their information, so production would record consent first. Production also needs real authentication, protected transport, a retention policy, and an ERI-owned AI policy. Then take questions; see DEMO.md for likely 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46"/>
        </a:solidFill>
        <a:effectLst/>
      </p:bgPr>
    </p:bg>
    <p:spTree>
      <p:nvGrpSpPr>
        <p:cNvPr id="1" name=""/>
        <p:cNvGrpSpPr/>
        <p:nvPr/>
      </p:nvGrpSpPr>
      <p:grpSpPr/>
      <p:sp>
        <p:nvSpPr>
          <p:cNvPr id="2" name="Title 1"/>
          <p:cNvSpPr>
            <a:spLocks noGrp="1"/>
          </p:cNvSpPr>
          <p:nvPr>
            <p:ph type="title"/>
          </p:nvPr>
        </p:nvSpPr>
        <p:spPr>
          <a:xfrm>
            <a:off x="548640" y="1371600"/>
            <a:ext cx="6583680" cy="2194560"/>
          </a:xfrm>
        </p:spPr>
        <p:txBody>
          <a:bodyPr wrap="square" anchor="t"/>
          <a:lstStyle/>
          <a:p>
            <a:pPr algn="l"/>
            <a:r>
              <a:rPr sz="4800" b="1">
                <a:solidFill>
                  <a:srgbClr val="FFFFFF"/>
                </a:solidFill>
                <a:latin typeface="Cambria"/>
              </a:rPr>
              <a:t>Ally: a supervised AI helper for job coaching</a:t>
            </a:r>
          </a:p>
        </p:txBody>
      </p:sp>
      <p:sp>
        <p:nvSpPr>
          <p:cNvPr id="3" name="Event label"/>
          <p:cNvSpPr txBox="1"/>
          <p:nvPr/>
        </p:nvSpPr>
        <p:spPr>
          <a:xfrm>
            <a:off x="548640" y="548640"/>
            <a:ext cx="8229600" cy="365760"/>
          </a:xfrm>
          <a:prstGeom prst="rect">
            <a:avLst/>
          </a:prstGeom>
          <a:noFill/>
        </p:spPr>
        <p:txBody>
          <a:bodyPr wrap="square" anchor="t">
            <a:spAutoFit/>
          </a:bodyPr>
          <a:lstStyle/>
          <a:p>
            <a:pPr algn="l"/>
            <a:r>
              <a:rPr sz="1400" b="1" i="0">
                <a:solidFill>
                  <a:srgbClr val="F2A33A"/>
                </a:solidFill>
                <a:latin typeface="Calibri"/>
              </a:rPr>
              <a:t>HACKREATION × ERI  ·  PROJECT 3: JOB COACH CONNECTION</a:t>
            </a:r>
          </a:p>
        </p:txBody>
      </p:sp>
      <p:sp>
        <p:nvSpPr>
          <p:cNvPr id="4" name="Subtitle"/>
          <p:cNvSpPr txBox="1"/>
          <p:nvPr/>
        </p:nvSpPr>
        <p:spPr>
          <a:xfrm>
            <a:off x="548640" y="3840480"/>
            <a:ext cx="6309360" cy="1188720"/>
          </a:xfrm>
          <a:prstGeom prst="rect">
            <a:avLst/>
          </a:prstGeom>
          <a:noFill/>
        </p:spPr>
        <p:txBody>
          <a:bodyPr wrap="square" anchor="t">
            <a:spAutoFit/>
          </a:bodyPr>
          <a:lstStyle/>
          <a:p>
            <a:pPr algn="l"/>
            <a:r>
              <a:rPr sz="2400" b="0" i="0">
                <a:solidFill>
                  <a:srgbClr val="DDEFF1"/>
                </a:solidFill>
                <a:latin typeface="Calibri"/>
              </a:rPr>
              <a:t>Fast first answers for the employee.</a:t>
            </a:r>
          </a:p>
          <a:p>
            <a:pPr algn="l"/>
            <a:r>
              <a:rPr sz="2400" b="0" i="0">
                <a:solidFill>
                  <a:srgbClr val="DDEFF1"/>
                </a:solidFill>
                <a:latin typeface="Calibri"/>
              </a:rPr>
              <a:t>The coach stays in the loop.</a:t>
            </a:r>
          </a:p>
        </p:txBody>
      </p:sp>
      <p:sp>
        <p:nvSpPr>
          <p:cNvPr id="5" name="Footer"/>
          <p:cNvSpPr txBox="1"/>
          <p:nvPr/>
        </p:nvSpPr>
        <p:spPr>
          <a:xfrm>
            <a:off x="548640" y="5943600"/>
            <a:ext cx="7315200" cy="365760"/>
          </a:xfrm>
          <a:prstGeom prst="rect">
            <a:avLst/>
          </a:prstGeom>
          <a:noFill/>
        </p:spPr>
        <p:txBody>
          <a:bodyPr wrap="square" anchor="t">
            <a:spAutoFit/>
          </a:bodyPr>
          <a:lstStyle/>
          <a:p>
            <a:pPr algn="l"/>
            <a:r>
              <a:rPr sz="1400" b="0" i="0">
                <a:solidFill>
                  <a:srgbClr val="B9D3D7"/>
                </a:solidFill>
                <a:latin typeface="Calibri"/>
              </a:rPr>
              <a:t>Prototype  ·  fictional people and data</a:t>
            </a:r>
          </a:p>
        </p:txBody>
      </p:sp>
      <p:sp>
        <p:nvSpPr>
          <p:cNvPr id="6" name="Client message"/>
          <p:cNvSpPr/>
          <p:nvPr/>
        </p:nvSpPr>
        <p:spPr>
          <a:xfrm>
            <a:off x="7498079" y="1554480"/>
            <a:ext cx="4114800" cy="1051560"/>
          </a:xfrm>
          <a:prstGeom prst="roundRect">
            <a:avLst>
              <a:gd name="adj" fmla="val 12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500" b="1">
                <a:solidFill>
                  <a:srgbClr val="146C7A"/>
                </a:solidFill>
                <a:latin typeface="Calibri"/>
              </a:rPr>
              <a:t>Client  </a:t>
            </a:r>
          </a:p>
          <a:p>
            <a:pPr algn="l"/>
            <a:r>
              <a:rPr sz="1800">
                <a:solidFill>
                  <a:srgbClr val="1B2B30"/>
                </a:solidFill>
                <a:latin typeface="Calibri"/>
              </a:rPr>
              <a:t>I am not sure what to do first.</a:t>
            </a:r>
          </a:p>
        </p:txBody>
      </p:sp>
      <p:sp>
        <p:nvSpPr>
          <p:cNvPr id="7" name="Ally (AI helper) message"/>
          <p:cNvSpPr/>
          <p:nvPr/>
        </p:nvSpPr>
        <p:spPr>
          <a:xfrm>
            <a:off x="7498079" y="2880360"/>
            <a:ext cx="4114800" cy="1371600"/>
          </a:xfrm>
          <a:prstGeom prst="roundRect">
            <a:avLst>
              <a:gd name="adj" fmla="val 12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500" b="1">
                <a:solidFill>
                  <a:srgbClr val="8A5400"/>
                </a:solidFill>
                <a:latin typeface="Calibri"/>
              </a:rPr>
              <a:t>Ally (AI helper)  </a:t>
            </a:r>
          </a:p>
          <a:p>
            <a:pPr algn="l"/>
            <a:r>
              <a:rPr sz="1800">
                <a:solidFill>
                  <a:srgbClr val="1B2B30"/>
                </a:solidFill>
                <a:latin typeface="Calibri"/>
              </a:rPr>
              <a:t>Step 1: Find aisle 3. Walk to aisle 3. The sign hangs above the shelf.</a:t>
            </a:r>
          </a:p>
        </p:txBody>
      </p:sp>
      <p:sp>
        <p:nvSpPr>
          <p:cNvPr id="8" name="Coach message"/>
          <p:cNvSpPr/>
          <p:nvPr/>
        </p:nvSpPr>
        <p:spPr>
          <a:xfrm>
            <a:off x="7498079" y="4526280"/>
            <a:ext cx="4114800" cy="1051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500" b="1">
                <a:solidFill>
                  <a:srgbClr val="8A5400"/>
                </a:solidFill>
                <a:latin typeface="Calibri"/>
              </a:rPr>
              <a:t>Coach  </a:t>
            </a:r>
          </a:p>
          <a:p>
            <a:pPr algn="l"/>
            <a:r>
              <a:rPr sz="1800">
                <a:solidFill>
                  <a:srgbClr val="1B2B30"/>
                </a:solidFill>
                <a:latin typeface="Calibri"/>
              </a:rPr>
              <a:t>Thank you for telling 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Asking for help is hard, and coaches cannot be everywhere</a:t>
            </a:r>
          </a:p>
        </p:txBody>
      </p:sp>
      <p:sp>
        <p:nvSpPr>
          <p:cNvPr id="3" name="Card: Asking is hard"/>
          <p:cNvSpPr/>
          <p:nvPr/>
        </p:nvSpPr>
        <p:spPr>
          <a:xfrm>
            <a:off x="548640" y="1737360"/>
            <a:ext cx="3520440" cy="3931920"/>
          </a:xfrm>
          <a:prstGeom prst="roundRect">
            <a:avLst>
              <a:gd name="adj" fmla="val 8000"/>
            </a:avLst>
          </a:prstGeom>
          <a:solidFill>
            <a:srgbClr val="FFFFFF"/>
          </a:solidFill>
          <a:ln w="19050">
            <a:solidFill>
              <a:srgbClr val="B9D3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p:cNvSpPr/>
          <p:nvPr/>
        </p:nvSpPr>
        <p:spPr>
          <a:xfrm>
            <a:off x="822959"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Card heading"/>
          <p:cNvSpPr txBox="1"/>
          <p:nvPr/>
        </p:nvSpPr>
        <p:spPr>
          <a:xfrm>
            <a:off x="731520" y="2788920"/>
            <a:ext cx="3154680" cy="822960"/>
          </a:xfrm>
          <a:prstGeom prst="rect">
            <a:avLst/>
          </a:prstGeom>
          <a:noFill/>
        </p:spPr>
        <p:txBody>
          <a:bodyPr wrap="square" anchor="t">
            <a:spAutoFit/>
          </a:bodyPr>
          <a:lstStyle/>
          <a:p>
            <a:pPr algn="l"/>
            <a:r>
              <a:rPr sz="2200" b="1" i="0">
                <a:solidFill>
                  <a:srgbClr val="1B2B30"/>
                </a:solidFill>
                <a:latin typeface="Cambria"/>
              </a:rPr>
              <a:t>Asking is hard</a:t>
            </a:r>
          </a:p>
        </p:txBody>
      </p:sp>
      <p:sp>
        <p:nvSpPr>
          <p:cNvPr id="6" name="Card body"/>
          <p:cNvSpPr txBox="1"/>
          <p:nvPr/>
        </p:nvSpPr>
        <p:spPr>
          <a:xfrm>
            <a:off x="731520" y="3657600"/>
            <a:ext cx="3154680" cy="1874519"/>
          </a:xfrm>
          <a:prstGeom prst="rect">
            <a:avLst/>
          </a:prstGeom>
          <a:noFill/>
        </p:spPr>
        <p:txBody>
          <a:bodyPr wrap="square" anchor="t">
            <a:spAutoFit/>
          </a:bodyPr>
          <a:lstStyle/>
          <a:p>
            <a:pPr algn="l"/>
            <a:r>
              <a:rPr sz="1600" b="0" i="0">
                <a:solidFill>
                  <a:srgbClr val="4F6268"/>
                </a:solidFill>
                <a:latin typeface="Calibri"/>
              </a:rPr>
              <a:t>Communication disabilities, not knowing who to contact, or not wanting to interrupt a supervisor.</a:t>
            </a:r>
          </a:p>
        </p:txBody>
      </p:sp>
      <p:sp>
        <p:nvSpPr>
          <p:cNvPr id="7" name="Card: Coaches cover many sites"/>
          <p:cNvSpPr/>
          <p:nvPr/>
        </p:nvSpPr>
        <p:spPr>
          <a:xfrm>
            <a:off x="4343400" y="1737360"/>
            <a:ext cx="3520440" cy="3931920"/>
          </a:xfrm>
          <a:prstGeom prst="roundRect">
            <a:avLst>
              <a:gd name="adj" fmla="val 8000"/>
            </a:avLst>
          </a:prstGeom>
          <a:solidFill>
            <a:srgbClr val="FFFFFF"/>
          </a:solidFill>
          <a:ln w="19050">
            <a:solidFill>
              <a:srgbClr val="B9D3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2"/>
          <p:cNvSpPr/>
          <p:nvPr/>
        </p:nvSpPr>
        <p:spPr>
          <a:xfrm>
            <a:off x="4617720"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9" name="Card heading"/>
          <p:cNvSpPr txBox="1"/>
          <p:nvPr/>
        </p:nvSpPr>
        <p:spPr>
          <a:xfrm>
            <a:off x="4526280" y="2788920"/>
            <a:ext cx="3154680" cy="822960"/>
          </a:xfrm>
          <a:prstGeom prst="rect">
            <a:avLst/>
          </a:prstGeom>
          <a:noFill/>
        </p:spPr>
        <p:txBody>
          <a:bodyPr wrap="square" anchor="t">
            <a:spAutoFit/>
          </a:bodyPr>
          <a:lstStyle/>
          <a:p>
            <a:pPr algn="l"/>
            <a:r>
              <a:rPr sz="2200" b="1" i="0">
                <a:solidFill>
                  <a:srgbClr val="1B2B30"/>
                </a:solidFill>
                <a:latin typeface="Cambria"/>
              </a:rPr>
              <a:t>Coaches cover many sites</a:t>
            </a:r>
          </a:p>
        </p:txBody>
      </p:sp>
      <p:sp>
        <p:nvSpPr>
          <p:cNvPr id="10" name="Card body"/>
          <p:cNvSpPr txBox="1"/>
          <p:nvPr/>
        </p:nvSpPr>
        <p:spPr>
          <a:xfrm>
            <a:off x="4526280" y="3657600"/>
            <a:ext cx="3154680" cy="1874519"/>
          </a:xfrm>
          <a:prstGeom prst="rect">
            <a:avLst/>
          </a:prstGeom>
          <a:noFill/>
        </p:spPr>
        <p:txBody>
          <a:bodyPr wrap="square" anchor="t">
            <a:spAutoFit/>
          </a:bodyPr>
          <a:lstStyle/>
          <a:p>
            <a:pPr algn="l"/>
            <a:r>
              <a:rPr sz="1600" b="0" i="0">
                <a:solidFill>
                  <a:srgbClr val="4F6268"/>
                </a:solidFill>
                <a:latin typeface="Calibri"/>
              </a:rPr>
              <a:t>A coach supports several employees across worksites and cannot always be there in person.</a:t>
            </a:r>
          </a:p>
        </p:txBody>
      </p:sp>
      <p:sp>
        <p:nvSpPr>
          <p:cNvPr id="11" name="Card: A blank box is no help"/>
          <p:cNvSpPr/>
          <p:nvPr/>
        </p:nvSpPr>
        <p:spPr>
          <a:xfrm>
            <a:off x="8138160" y="1737360"/>
            <a:ext cx="3520440" cy="3931920"/>
          </a:xfrm>
          <a:prstGeom prst="roundRect">
            <a:avLst>
              <a:gd name="adj" fmla="val 8000"/>
            </a:avLst>
          </a:prstGeom>
          <a:solidFill>
            <a:srgbClr val="FFFFFF"/>
          </a:solidFill>
          <a:ln w="19050">
            <a:solidFill>
              <a:srgbClr val="B9D3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3"/>
          <p:cNvSpPr/>
          <p:nvPr/>
        </p:nvSpPr>
        <p:spPr>
          <a:xfrm>
            <a:off x="8412480"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3" name="Card heading"/>
          <p:cNvSpPr txBox="1"/>
          <p:nvPr/>
        </p:nvSpPr>
        <p:spPr>
          <a:xfrm>
            <a:off x="8321040" y="2788920"/>
            <a:ext cx="3154680" cy="822960"/>
          </a:xfrm>
          <a:prstGeom prst="rect">
            <a:avLst/>
          </a:prstGeom>
          <a:noFill/>
        </p:spPr>
        <p:txBody>
          <a:bodyPr wrap="square" anchor="t">
            <a:spAutoFit/>
          </a:bodyPr>
          <a:lstStyle/>
          <a:p>
            <a:pPr algn="l"/>
            <a:r>
              <a:rPr sz="2200" b="1" i="0">
                <a:solidFill>
                  <a:srgbClr val="1B2B30"/>
                </a:solidFill>
                <a:latin typeface="Cambria"/>
              </a:rPr>
              <a:t>A blank box is no help</a:t>
            </a:r>
          </a:p>
        </p:txBody>
      </p:sp>
      <p:sp>
        <p:nvSpPr>
          <p:cNvPr id="14" name="Card body"/>
          <p:cNvSpPr txBox="1"/>
          <p:nvPr/>
        </p:nvSpPr>
        <p:spPr>
          <a:xfrm>
            <a:off x="8321040" y="3657600"/>
            <a:ext cx="3154680" cy="1874519"/>
          </a:xfrm>
          <a:prstGeom prst="rect">
            <a:avLst/>
          </a:prstGeom>
          <a:noFill/>
        </p:spPr>
        <p:txBody>
          <a:bodyPr wrap="square" anchor="t">
            <a:spAutoFit/>
          </a:bodyPr>
          <a:lstStyle/>
          <a:p>
            <a:pPr algn="l"/>
            <a:r>
              <a:rPr sz="1600" b="0" i="0">
                <a:solidFill>
                  <a:srgbClr val="4F6268"/>
                </a:solidFill>
                <a:latin typeface="Calibri"/>
              </a:rPr>
              <a:t>Typing is hard. People need pictures, short words, and a clear next step.</a:t>
            </a:r>
          </a:p>
        </p:txBody>
      </p:sp>
      <p:sp>
        <p:nvSpPr>
          <p:cNvPr id="15" name="Source"/>
          <p:cNvSpPr txBox="1"/>
          <p:nvPr/>
        </p:nvSpPr>
        <p:spPr>
          <a:xfrm>
            <a:off x="548640" y="5943600"/>
            <a:ext cx="10972800" cy="365760"/>
          </a:xfrm>
          <a:prstGeom prst="rect">
            <a:avLst/>
          </a:prstGeom>
          <a:noFill/>
        </p:spPr>
        <p:txBody>
          <a:bodyPr wrap="square" anchor="t">
            <a:spAutoFit/>
          </a:bodyPr>
          <a:lstStyle/>
          <a:p>
            <a:pPr algn="l"/>
            <a:r>
              <a:rPr sz="1400" b="0" i="0">
                <a:solidFill>
                  <a:srgbClr val="4F6268"/>
                </a:solidFill>
                <a:latin typeface="Calibri"/>
              </a:rPr>
              <a:t>Source: ERI problem statement, Project 3 (Job Coach Connection)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One chat: the client, Ally, and the coach</a:t>
            </a:r>
          </a:p>
        </p:txBody>
      </p:sp>
      <p:sp>
        <p:nvSpPr>
          <p:cNvPr id="3" name="Card: Client"/>
          <p:cNvSpPr/>
          <p:nvPr/>
        </p:nvSpPr>
        <p:spPr>
          <a:xfrm>
            <a:off x="548640" y="1737360"/>
            <a:ext cx="3520440" cy="329184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heading"/>
          <p:cNvSpPr txBox="1"/>
          <p:nvPr/>
        </p:nvSpPr>
        <p:spPr>
          <a:xfrm>
            <a:off x="731520" y="2011679"/>
            <a:ext cx="3154680" cy="822960"/>
          </a:xfrm>
          <a:prstGeom prst="rect">
            <a:avLst/>
          </a:prstGeom>
          <a:noFill/>
        </p:spPr>
        <p:txBody>
          <a:bodyPr wrap="square" anchor="t">
            <a:spAutoFit/>
          </a:bodyPr>
          <a:lstStyle/>
          <a:p>
            <a:pPr algn="l"/>
            <a:r>
              <a:rPr sz="2200" b="1" i="0">
                <a:solidFill>
                  <a:srgbClr val="1B2B30"/>
                </a:solidFill>
                <a:latin typeface="Cambria"/>
              </a:rPr>
              <a:t>Client</a:t>
            </a:r>
          </a:p>
        </p:txBody>
      </p:sp>
      <p:sp>
        <p:nvSpPr>
          <p:cNvPr id="5" name="Card body"/>
          <p:cNvSpPr txBox="1"/>
          <p:nvPr/>
        </p:nvSpPr>
        <p:spPr>
          <a:xfrm>
            <a:off x="731520" y="2880359"/>
            <a:ext cx="3154680" cy="2011680"/>
          </a:xfrm>
          <a:prstGeom prst="rect">
            <a:avLst/>
          </a:prstGeom>
          <a:noFill/>
        </p:spPr>
        <p:txBody>
          <a:bodyPr wrap="square" anchor="t">
            <a:spAutoFit/>
          </a:bodyPr>
          <a:lstStyle/>
          <a:p>
            <a:pPr algn="l"/>
            <a:r>
              <a:rPr sz="1600" b="0" i="0">
                <a:solidFill>
                  <a:srgbClr val="4F6268"/>
                </a:solidFill>
                <a:latin typeface="Calibri"/>
              </a:rPr>
              <a:t>Asks by typing, dictating, or sending a photo. Gets one step at a time.</a:t>
            </a:r>
          </a:p>
        </p:txBody>
      </p:sp>
      <p:sp>
        <p:nvSpPr>
          <p:cNvPr id="6" name="Card: Ally (AI helper)"/>
          <p:cNvSpPr/>
          <p:nvPr/>
        </p:nvSpPr>
        <p:spPr>
          <a:xfrm>
            <a:off x="4343400" y="1737360"/>
            <a:ext cx="3520440" cy="3291840"/>
          </a:xfrm>
          <a:prstGeom prst="roundRect">
            <a:avLst>
              <a:gd name="adj" fmla="val 8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heading"/>
          <p:cNvSpPr txBox="1"/>
          <p:nvPr/>
        </p:nvSpPr>
        <p:spPr>
          <a:xfrm>
            <a:off x="4526280" y="2011679"/>
            <a:ext cx="3154680" cy="822960"/>
          </a:xfrm>
          <a:prstGeom prst="rect">
            <a:avLst/>
          </a:prstGeom>
          <a:noFill/>
        </p:spPr>
        <p:txBody>
          <a:bodyPr wrap="square" anchor="t">
            <a:spAutoFit/>
          </a:bodyPr>
          <a:lstStyle/>
          <a:p>
            <a:pPr algn="l"/>
            <a:r>
              <a:rPr sz="2200" b="1" i="0">
                <a:solidFill>
                  <a:srgbClr val="1B2B30"/>
                </a:solidFill>
                <a:latin typeface="Cambria"/>
              </a:rPr>
              <a:t>Ally (AI helper)</a:t>
            </a:r>
          </a:p>
        </p:txBody>
      </p:sp>
      <p:sp>
        <p:nvSpPr>
          <p:cNvPr id="8" name="Card body"/>
          <p:cNvSpPr txBox="1"/>
          <p:nvPr/>
        </p:nvSpPr>
        <p:spPr>
          <a:xfrm>
            <a:off x="4526280" y="2880359"/>
            <a:ext cx="3154680" cy="2011680"/>
          </a:xfrm>
          <a:prstGeom prst="rect">
            <a:avLst/>
          </a:prstGeom>
          <a:noFill/>
        </p:spPr>
        <p:txBody>
          <a:bodyPr wrap="square" anchor="t">
            <a:spAutoFit/>
          </a:bodyPr>
          <a:lstStyle/>
          <a:p>
            <a:pPr algn="l"/>
            <a:r>
              <a:rPr sz="1600" b="0" i="0">
                <a:solidFill>
                  <a:srgbClr val="4F6268"/>
                </a:solidFill>
                <a:latin typeface="Calibri"/>
              </a:rPr>
              <a:t>Answers only from the coach's task guide, in short plain sentences.</a:t>
            </a:r>
          </a:p>
        </p:txBody>
      </p:sp>
      <p:sp>
        <p:nvSpPr>
          <p:cNvPr id="9" name="Card: Coach"/>
          <p:cNvSpPr/>
          <p:nvPr/>
        </p:nvSpPr>
        <p:spPr>
          <a:xfrm>
            <a:off x="8138160" y="1737360"/>
            <a:ext cx="3520440" cy="329184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heading"/>
          <p:cNvSpPr txBox="1"/>
          <p:nvPr/>
        </p:nvSpPr>
        <p:spPr>
          <a:xfrm>
            <a:off x="8321040" y="2011679"/>
            <a:ext cx="3154680" cy="822960"/>
          </a:xfrm>
          <a:prstGeom prst="rect">
            <a:avLst/>
          </a:prstGeom>
          <a:noFill/>
        </p:spPr>
        <p:txBody>
          <a:bodyPr wrap="square" anchor="t">
            <a:spAutoFit/>
          </a:bodyPr>
          <a:lstStyle/>
          <a:p>
            <a:pPr algn="l"/>
            <a:r>
              <a:rPr sz="2200" b="1" i="0">
                <a:solidFill>
                  <a:srgbClr val="1B2B30"/>
                </a:solidFill>
                <a:latin typeface="Cambria"/>
              </a:rPr>
              <a:t>Coach</a:t>
            </a:r>
          </a:p>
        </p:txBody>
      </p:sp>
      <p:sp>
        <p:nvSpPr>
          <p:cNvPr id="11" name="Card body"/>
          <p:cNvSpPr txBox="1"/>
          <p:nvPr/>
        </p:nvSpPr>
        <p:spPr>
          <a:xfrm>
            <a:off x="8321040" y="2880359"/>
            <a:ext cx="3154680" cy="2011680"/>
          </a:xfrm>
          <a:prstGeom prst="rect">
            <a:avLst/>
          </a:prstGeom>
          <a:noFill/>
        </p:spPr>
        <p:txBody>
          <a:bodyPr wrap="square" anchor="t">
            <a:spAutoFit/>
          </a:bodyPr>
          <a:lstStyle/>
          <a:p>
            <a:pPr algn="l"/>
            <a:r>
              <a:rPr sz="1600" b="0" i="0">
                <a:solidFill>
                  <a:srgbClr val="4F6268"/>
                </a:solidFill>
                <a:latin typeface="Calibri"/>
              </a:rPr>
              <a:t>Reads everything live, corrects Ally, and can take over at any time.</a:t>
            </a:r>
          </a:p>
        </p:txBody>
      </p:sp>
      <p:sp>
        <p:nvSpPr>
          <p:cNvPr id="12" name="Rule banner"/>
          <p:cNvSpPr/>
          <p:nvPr/>
        </p:nvSpPr>
        <p:spPr>
          <a:xfrm>
            <a:off x="548640" y="5257800"/>
            <a:ext cx="11064240" cy="822960"/>
          </a:xfrm>
          <a:prstGeom prst="roundRect">
            <a:avLst>
              <a:gd name="adj" fmla="val 8000"/>
            </a:avLst>
          </a:prstGeom>
          <a:solidFill>
            <a:srgbClr val="0B3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le text"/>
          <p:cNvSpPr txBox="1"/>
          <p:nvPr/>
        </p:nvSpPr>
        <p:spPr>
          <a:xfrm>
            <a:off x="731520" y="5303520"/>
            <a:ext cx="10698480" cy="731520"/>
          </a:xfrm>
          <a:prstGeom prst="rect">
            <a:avLst/>
          </a:prstGeom>
          <a:noFill/>
        </p:spPr>
        <p:txBody>
          <a:bodyPr wrap="square" anchor="ctr">
            <a:spAutoFit/>
          </a:bodyPr>
          <a:lstStyle/>
          <a:p>
            <a:pPr algn="l"/>
            <a:r>
              <a:rPr sz="2000" b="1" i="0">
                <a:solidFill>
                  <a:srgbClr val="FFFFFF"/>
                </a:solidFill>
                <a:latin typeface="Calibri"/>
              </a:rPr>
              <a:t>Ally never claims to be the coach and never promises a reply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Ally answers from the coach's guide, one step at a time</a:t>
            </a:r>
          </a:p>
        </p:txBody>
      </p:sp>
      <p:sp>
        <p:nvSpPr>
          <p:cNvPr id="3" name="Client message"/>
          <p:cNvSpPr/>
          <p:nvPr/>
        </p:nvSpPr>
        <p:spPr>
          <a:xfrm>
            <a:off x="548640" y="1737360"/>
            <a:ext cx="5852160" cy="868680"/>
          </a:xfrm>
          <a:prstGeom prst="roundRect">
            <a:avLst>
              <a:gd name="adj" fmla="val 12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146C7A"/>
                </a:solidFill>
                <a:latin typeface="Calibri"/>
              </a:rPr>
              <a:t>Client  </a:t>
            </a:r>
          </a:p>
          <a:p>
            <a:pPr algn="l"/>
            <a:r>
              <a:rPr sz="1700">
                <a:solidFill>
                  <a:srgbClr val="1B2B30"/>
                </a:solidFill>
                <a:latin typeface="Calibri"/>
              </a:rPr>
              <a:t>@ally what is step 2 of stock the shelves?</a:t>
            </a:r>
          </a:p>
        </p:txBody>
      </p:sp>
      <p:sp>
        <p:nvSpPr>
          <p:cNvPr id="4" name="Ally (AI helper) message"/>
          <p:cNvSpPr/>
          <p:nvPr/>
        </p:nvSpPr>
        <p:spPr>
          <a:xfrm>
            <a:off x="548640" y="2743200"/>
            <a:ext cx="5852160" cy="1417320"/>
          </a:xfrm>
          <a:prstGeom prst="roundRect">
            <a:avLst>
              <a:gd name="adj" fmla="val 12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8A5400"/>
                </a:solidFill>
                <a:latin typeface="Calibri"/>
              </a:rPr>
              <a:t>Ally (AI helper)  </a:t>
            </a:r>
          </a:p>
          <a:p>
            <a:pPr algn="l"/>
            <a:r>
              <a:rPr sz="1700">
                <a:solidFill>
                  <a:srgbClr val="1B2B30"/>
                </a:solidFill>
                <a:latin typeface="Calibri"/>
              </a:rPr>
              <a:t>Step 2: Get your supplies. Get a cart. Get a box cutter. Bring both to the aisle. Did that help?</a:t>
            </a:r>
          </a:p>
        </p:txBody>
      </p:sp>
      <p:sp>
        <p:nvSpPr>
          <p:cNvPr id="5" name="Client message"/>
          <p:cNvSpPr/>
          <p:nvPr/>
        </p:nvSpPr>
        <p:spPr>
          <a:xfrm>
            <a:off x="548640" y="4297680"/>
            <a:ext cx="5852160" cy="868680"/>
          </a:xfrm>
          <a:prstGeom prst="roundRect">
            <a:avLst>
              <a:gd name="adj" fmla="val 12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146C7A"/>
                </a:solidFill>
                <a:latin typeface="Calibri"/>
              </a:rPr>
              <a:t>Client  </a:t>
            </a:r>
          </a:p>
          <a:p>
            <a:pPr algn="l"/>
            <a:r>
              <a:rPr sz="1700">
                <a:solidFill>
                  <a:srgbClr val="1B2B30"/>
                </a:solidFill>
                <a:latin typeface="Calibri"/>
              </a:rPr>
              <a:t>@ally the machine I use is not working</a:t>
            </a:r>
          </a:p>
        </p:txBody>
      </p:sp>
      <p:sp>
        <p:nvSpPr>
          <p:cNvPr id="6" name="Ally (AI helper) message"/>
          <p:cNvSpPr/>
          <p:nvPr/>
        </p:nvSpPr>
        <p:spPr>
          <a:xfrm>
            <a:off x="548640" y="5303520"/>
            <a:ext cx="5852160" cy="868680"/>
          </a:xfrm>
          <a:prstGeom prst="roundRect">
            <a:avLst>
              <a:gd name="adj" fmla="val 12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8A5400"/>
                </a:solidFill>
                <a:latin typeface="Calibri"/>
              </a:rPr>
              <a:t>Ally (AI helper)  </a:t>
            </a:r>
          </a:p>
          <a:p>
            <a:pPr algn="l"/>
            <a:r>
              <a:rPr sz="1700">
                <a:solidFill>
                  <a:srgbClr val="1B2B30"/>
                </a:solidFill>
                <a:latin typeface="Calibri"/>
              </a:rPr>
              <a:t>Please stop using it. Tell the person in charge.</a:t>
            </a:r>
          </a:p>
        </p:txBody>
      </p:sp>
      <p:sp>
        <p:nvSpPr>
          <p:cNvPr id="7" name="Number 1"/>
          <p:cNvSpPr/>
          <p:nvPr/>
        </p:nvSpPr>
        <p:spPr>
          <a:xfrm>
            <a:off x="6949440" y="182880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Point heading"/>
          <p:cNvSpPr txBox="1"/>
          <p:nvPr/>
        </p:nvSpPr>
        <p:spPr>
          <a:xfrm>
            <a:off x="7680960" y="1755648"/>
            <a:ext cx="4023360" cy="457200"/>
          </a:xfrm>
          <a:prstGeom prst="rect">
            <a:avLst/>
          </a:prstGeom>
          <a:noFill/>
        </p:spPr>
        <p:txBody>
          <a:bodyPr wrap="square" anchor="t">
            <a:spAutoFit/>
          </a:bodyPr>
          <a:lstStyle/>
          <a:p>
            <a:pPr algn="l"/>
            <a:r>
              <a:rPr sz="2000" b="1" i="0">
                <a:solidFill>
                  <a:srgbClr val="1B2B30"/>
                </a:solidFill>
                <a:latin typeface="Cambria"/>
              </a:rPr>
              <a:t>One step at a time</a:t>
            </a:r>
          </a:p>
        </p:txBody>
      </p:sp>
      <p:sp>
        <p:nvSpPr>
          <p:cNvPr id="9" name="Point body"/>
          <p:cNvSpPr txBox="1"/>
          <p:nvPr/>
        </p:nvSpPr>
        <p:spPr>
          <a:xfrm>
            <a:off x="7680960" y="2240280"/>
            <a:ext cx="4023360" cy="777240"/>
          </a:xfrm>
          <a:prstGeom prst="rect">
            <a:avLst/>
          </a:prstGeom>
          <a:noFill/>
        </p:spPr>
        <p:txBody>
          <a:bodyPr wrap="square" anchor="t">
            <a:spAutoFit/>
          </a:bodyPr>
          <a:lstStyle/>
          <a:p>
            <a:pPr algn="l"/>
            <a:r>
              <a:rPr sz="1600" b="0" i="0">
                <a:solidFill>
                  <a:srgbClr val="4F6268"/>
                </a:solidFill>
                <a:latin typeface="Calibri"/>
              </a:rPr>
              <a:t>Short, plain sentences. No long lists.</a:t>
            </a:r>
          </a:p>
        </p:txBody>
      </p:sp>
      <p:sp>
        <p:nvSpPr>
          <p:cNvPr id="10" name="Number 2"/>
          <p:cNvSpPr/>
          <p:nvPr/>
        </p:nvSpPr>
        <p:spPr>
          <a:xfrm>
            <a:off x="6949440" y="329184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Point heading"/>
          <p:cNvSpPr txBox="1"/>
          <p:nvPr/>
        </p:nvSpPr>
        <p:spPr>
          <a:xfrm>
            <a:off x="7680960" y="3218688"/>
            <a:ext cx="4023360" cy="457200"/>
          </a:xfrm>
          <a:prstGeom prst="rect">
            <a:avLst/>
          </a:prstGeom>
          <a:noFill/>
        </p:spPr>
        <p:txBody>
          <a:bodyPr wrap="square" anchor="t">
            <a:spAutoFit/>
          </a:bodyPr>
          <a:lstStyle/>
          <a:p>
            <a:pPr algn="l"/>
            <a:r>
              <a:rPr sz="2000" b="1" i="0">
                <a:solidFill>
                  <a:srgbClr val="1B2B30"/>
                </a:solidFill>
                <a:latin typeface="Cambria"/>
              </a:rPr>
              <a:t>Never guesses</a:t>
            </a:r>
          </a:p>
        </p:txBody>
      </p:sp>
      <p:sp>
        <p:nvSpPr>
          <p:cNvPr id="12" name="Point body"/>
          <p:cNvSpPr txBox="1"/>
          <p:nvPr/>
        </p:nvSpPr>
        <p:spPr>
          <a:xfrm>
            <a:off x="7680960" y="3703320"/>
            <a:ext cx="4023360" cy="777240"/>
          </a:xfrm>
          <a:prstGeom prst="rect">
            <a:avLst/>
          </a:prstGeom>
          <a:noFill/>
        </p:spPr>
        <p:txBody>
          <a:bodyPr wrap="square" anchor="t">
            <a:spAutoFit/>
          </a:bodyPr>
          <a:lstStyle/>
          <a:p>
            <a:pPr algn="l"/>
            <a:r>
              <a:rPr sz="1600" b="0" i="0">
                <a:solidFill>
                  <a:srgbClr val="4F6268"/>
                </a:solidFill>
                <a:latin typeface="Calibri"/>
              </a:rPr>
              <a:t>If it is not in the guide, it says so.</a:t>
            </a:r>
          </a:p>
        </p:txBody>
      </p:sp>
      <p:sp>
        <p:nvSpPr>
          <p:cNvPr id="13" name="Number 3"/>
          <p:cNvSpPr/>
          <p:nvPr/>
        </p:nvSpPr>
        <p:spPr>
          <a:xfrm>
            <a:off x="6949440" y="475488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4" name="Point heading"/>
          <p:cNvSpPr txBox="1"/>
          <p:nvPr/>
        </p:nvSpPr>
        <p:spPr>
          <a:xfrm>
            <a:off x="7680960" y="4681728"/>
            <a:ext cx="4023360" cy="457200"/>
          </a:xfrm>
          <a:prstGeom prst="rect">
            <a:avLst/>
          </a:prstGeom>
          <a:noFill/>
        </p:spPr>
        <p:txBody>
          <a:bodyPr wrap="square" anchor="t">
            <a:spAutoFit/>
          </a:bodyPr>
          <a:lstStyle/>
          <a:p>
            <a:pPr algn="l"/>
            <a:r>
              <a:rPr sz="2000" b="1" i="0">
                <a:solidFill>
                  <a:srgbClr val="1B2B30"/>
                </a:solidFill>
                <a:latin typeface="Cambria"/>
              </a:rPr>
              <a:t>Does not fix equipment</a:t>
            </a:r>
          </a:p>
        </p:txBody>
      </p:sp>
      <p:sp>
        <p:nvSpPr>
          <p:cNvPr id="15" name="Point body"/>
          <p:cNvSpPr txBox="1"/>
          <p:nvPr/>
        </p:nvSpPr>
        <p:spPr>
          <a:xfrm>
            <a:off x="7680960" y="5166360"/>
            <a:ext cx="4023360" cy="777240"/>
          </a:xfrm>
          <a:prstGeom prst="rect">
            <a:avLst/>
          </a:prstGeom>
          <a:noFill/>
        </p:spPr>
        <p:txBody>
          <a:bodyPr wrap="square" anchor="t">
            <a:spAutoFit/>
          </a:bodyPr>
          <a:lstStyle/>
          <a:p>
            <a:pPr algn="l"/>
            <a:r>
              <a:rPr sz="1600" b="0" i="0">
                <a:solidFill>
                  <a:srgbClr val="4F6268"/>
                </a:solidFill>
                <a:latin typeface="Calibri"/>
              </a:rPr>
              <a:t>It tells the client to stop and tell the person in charge.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A photo works too, and the coach confirms</a:t>
            </a:r>
          </a:p>
        </p:txBody>
      </p:sp>
      <p:pic>
        <p:nvPicPr>
          <p:cNvPr id="3" name="Fake schedule photo" descr="A fictional break room schedule. Monday 8 am to 12 pm, Tuesday off, Wednesday 1 pm to 5 pm, Thursday 8 am to 12 pm, Friday 9 am to 1 pm."/>
          <p:cNvPicPr>
            <a:picLocks noChangeAspect="1"/>
          </p:cNvPicPr>
          <p:nvPr/>
        </p:nvPicPr>
        <p:blipFill>
          <a:blip r:embed="rId2"/>
          <a:stretch>
            <a:fillRect/>
          </a:stretch>
        </p:blipFill>
        <p:spPr>
          <a:xfrm>
            <a:off x="548640" y="1783080"/>
            <a:ext cx="5120640" cy="3277210"/>
          </a:xfrm>
          <a:prstGeom prst="rect">
            <a:avLst/>
          </a:prstGeom>
        </p:spPr>
      </p:pic>
      <p:sp>
        <p:nvSpPr>
          <p:cNvPr id="4" name="Photo caption"/>
          <p:cNvSpPr txBox="1"/>
          <p:nvPr/>
        </p:nvSpPr>
        <p:spPr>
          <a:xfrm>
            <a:off x="548640" y="5257800"/>
            <a:ext cx="5120640" cy="365760"/>
          </a:xfrm>
          <a:prstGeom prst="rect">
            <a:avLst/>
          </a:prstGeom>
          <a:noFill/>
        </p:spPr>
        <p:txBody>
          <a:bodyPr wrap="square" anchor="t">
            <a:spAutoFit/>
          </a:bodyPr>
          <a:lstStyle/>
          <a:p>
            <a:pPr algn="l"/>
            <a:r>
              <a:rPr sz="1400" b="0" i="0">
                <a:solidFill>
                  <a:srgbClr val="4F6268"/>
                </a:solidFill>
                <a:latin typeface="Calibri"/>
              </a:rPr>
              <a:t>Fictional schedule, made for the demo</a:t>
            </a:r>
          </a:p>
        </p:txBody>
      </p:sp>
      <p:sp>
        <p:nvSpPr>
          <p:cNvPr id="5" name="Client message"/>
          <p:cNvSpPr/>
          <p:nvPr/>
        </p:nvSpPr>
        <p:spPr>
          <a:xfrm>
            <a:off x="6126480" y="1783080"/>
            <a:ext cx="5486400" cy="1051560"/>
          </a:xfrm>
          <a:prstGeom prst="roundRect">
            <a:avLst>
              <a:gd name="adj" fmla="val 12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146C7A"/>
                </a:solidFill>
                <a:latin typeface="Calibri"/>
              </a:rPr>
              <a:t>Client  </a:t>
            </a:r>
          </a:p>
          <a:p>
            <a:pPr algn="l"/>
            <a:r>
              <a:rPr sz="1700">
                <a:solidFill>
                  <a:srgbClr val="1B2B30"/>
                </a:solidFill>
                <a:latin typeface="Calibri"/>
              </a:rPr>
              <a:t>@ally What time do I work on Wednesday? (photo attached)</a:t>
            </a:r>
          </a:p>
        </p:txBody>
      </p:sp>
      <p:sp>
        <p:nvSpPr>
          <p:cNvPr id="6" name="Ally (AI helper) message"/>
          <p:cNvSpPr/>
          <p:nvPr/>
        </p:nvSpPr>
        <p:spPr>
          <a:xfrm>
            <a:off x="6126480" y="3017520"/>
            <a:ext cx="5486400" cy="1463040"/>
          </a:xfrm>
          <a:prstGeom prst="roundRect">
            <a:avLst>
              <a:gd name="adj" fmla="val 12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400" b="1">
                <a:solidFill>
                  <a:srgbClr val="8A5400"/>
                </a:solidFill>
                <a:latin typeface="Calibri"/>
              </a:rPr>
              <a:t>Ally (AI helper)  </a:t>
            </a:r>
          </a:p>
          <a:p>
            <a:pPr algn="l"/>
            <a:r>
              <a:rPr sz="1700">
                <a:solidFill>
                  <a:srgbClr val="1B2B30"/>
                </a:solidFill>
                <a:latin typeface="Calibri"/>
              </a:rPr>
              <a:t>Wednesday is 1:00 pm - 5:00 pm. Please check with the coach to be sure.</a:t>
            </a:r>
          </a:p>
        </p:txBody>
      </p:sp>
      <p:sp>
        <p:nvSpPr>
          <p:cNvPr id="7" name="Photo rule"/>
          <p:cNvSpPr txBox="1"/>
          <p:nvPr/>
        </p:nvSpPr>
        <p:spPr>
          <a:xfrm>
            <a:off x="6126480" y="4754880"/>
            <a:ext cx="5486400" cy="1188720"/>
          </a:xfrm>
          <a:prstGeom prst="rect">
            <a:avLst/>
          </a:prstGeom>
          <a:noFill/>
        </p:spPr>
        <p:txBody>
          <a:bodyPr wrap="square" anchor="t">
            <a:spAutoFit/>
          </a:bodyPr>
          <a:lstStyle/>
          <a:p>
            <a:pPr algn="l"/>
            <a:r>
              <a:rPr sz="1800" b="1" i="0">
                <a:solidFill>
                  <a:srgbClr val="1B2B30"/>
                </a:solidFill>
                <a:latin typeface="Calibri"/>
              </a:rPr>
              <a:t>Photos are read in the private channel only. Ally never says hours are certain.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Some things always go to a person</a:t>
            </a:r>
          </a:p>
        </p:txBody>
      </p:sp>
      <p:sp>
        <p:nvSpPr>
          <p:cNvPr id="3" name="Card: Safety or health"/>
          <p:cNvSpPr/>
          <p:nvPr/>
        </p:nvSpPr>
        <p:spPr>
          <a:xfrm>
            <a:off x="548640" y="1737360"/>
            <a:ext cx="3520440" cy="3840480"/>
          </a:xfrm>
          <a:prstGeom prst="roundRect">
            <a:avLst>
              <a:gd name="adj" fmla="val 8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p:cNvSpPr/>
          <p:nvPr/>
        </p:nvSpPr>
        <p:spPr>
          <a:xfrm>
            <a:off x="822959"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Card heading"/>
          <p:cNvSpPr txBox="1"/>
          <p:nvPr/>
        </p:nvSpPr>
        <p:spPr>
          <a:xfrm>
            <a:off x="731520" y="2788920"/>
            <a:ext cx="3154680" cy="822960"/>
          </a:xfrm>
          <a:prstGeom prst="rect">
            <a:avLst/>
          </a:prstGeom>
          <a:noFill/>
        </p:spPr>
        <p:txBody>
          <a:bodyPr wrap="square" anchor="t">
            <a:spAutoFit/>
          </a:bodyPr>
          <a:lstStyle/>
          <a:p>
            <a:pPr algn="l"/>
            <a:r>
              <a:rPr sz="2200" b="1" i="0">
                <a:solidFill>
                  <a:srgbClr val="1B2B30"/>
                </a:solidFill>
                <a:latin typeface="Cambria"/>
              </a:rPr>
              <a:t>Safety or health</a:t>
            </a:r>
          </a:p>
        </p:txBody>
      </p:sp>
      <p:sp>
        <p:nvSpPr>
          <p:cNvPr id="6" name="Card body"/>
          <p:cNvSpPr txBox="1"/>
          <p:nvPr/>
        </p:nvSpPr>
        <p:spPr>
          <a:xfrm>
            <a:off x="731520" y="3657600"/>
            <a:ext cx="3154680" cy="1783080"/>
          </a:xfrm>
          <a:prstGeom prst="rect">
            <a:avLst/>
          </a:prstGeom>
          <a:noFill/>
        </p:spPr>
        <p:txBody>
          <a:bodyPr wrap="square" anchor="t">
            <a:spAutoFit/>
          </a:bodyPr>
          <a:lstStyle/>
          <a:p>
            <a:pPr algn="l"/>
            <a:r>
              <a:rPr sz="1600" b="0" i="0">
                <a:solidFill>
                  <a:srgbClr val="4F6268"/>
                </a:solidFill>
                <a:latin typeface="Calibri"/>
              </a:rPr>
              <a:t>Ally gives the 911 line and no medical advice. The coach can read the chat.</a:t>
            </a:r>
          </a:p>
        </p:txBody>
      </p:sp>
      <p:sp>
        <p:nvSpPr>
          <p:cNvPr id="7" name="Card: Pay and benefits"/>
          <p:cNvSpPr/>
          <p:nvPr/>
        </p:nvSpPr>
        <p:spPr>
          <a:xfrm>
            <a:off x="4343400" y="1737360"/>
            <a:ext cx="3520440" cy="38404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2"/>
          <p:cNvSpPr/>
          <p:nvPr/>
        </p:nvSpPr>
        <p:spPr>
          <a:xfrm>
            <a:off x="4617720"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9" name="Card heading"/>
          <p:cNvSpPr txBox="1"/>
          <p:nvPr/>
        </p:nvSpPr>
        <p:spPr>
          <a:xfrm>
            <a:off x="4526280" y="2788920"/>
            <a:ext cx="3154680" cy="822960"/>
          </a:xfrm>
          <a:prstGeom prst="rect">
            <a:avLst/>
          </a:prstGeom>
          <a:noFill/>
        </p:spPr>
        <p:txBody>
          <a:bodyPr wrap="square" anchor="t">
            <a:spAutoFit/>
          </a:bodyPr>
          <a:lstStyle/>
          <a:p>
            <a:pPr algn="l"/>
            <a:r>
              <a:rPr sz="2200" b="1" i="0">
                <a:solidFill>
                  <a:srgbClr val="1B2B30"/>
                </a:solidFill>
                <a:latin typeface="Cambria"/>
              </a:rPr>
              <a:t>Pay and benefits</a:t>
            </a:r>
          </a:p>
        </p:txBody>
      </p:sp>
      <p:sp>
        <p:nvSpPr>
          <p:cNvPr id="10" name="Card body"/>
          <p:cNvSpPr txBox="1"/>
          <p:nvPr/>
        </p:nvSpPr>
        <p:spPr>
          <a:xfrm>
            <a:off x="4526280" y="3657600"/>
            <a:ext cx="3154680" cy="1783080"/>
          </a:xfrm>
          <a:prstGeom prst="rect">
            <a:avLst/>
          </a:prstGeom>
          <a:noFill/>
        </p:spPr>
        <p:txBody>
          <a:bodyPr wrap="square" anchor="t">
            <a:spAutoFit/>
          </a:bodyPr>
          <a:lstStyle/>
          <a:p>
            <a:pPr algn="l"/>
            <a:r>
              <a:rPr sz="1600" b="0" i="0">
                <a:solidFill>
                  <a:srgbClr val="4F6268"/>
                </a:solidFill>
                <a:latin typeface="Calibri"/>
              </a:rPr>
              <a:t>Ally points to the coach and to WIPA, 1-877-826-1752. It gives no benefits estimates.</a:t>
            </a:r>
          </a:p>
        </p:txBody>
      </p:sp>
      <p:sp>
        <p:nvSpPr>
          <p:cNvPr id="11" name="Card: Not in the guide"/>
          <p:cNvSpPr/>
          <p:nvPr/>
        </p:nvSpPr>
        <p:spPr>
          <a:xfrm>
            <a:off x="8138160" y="1737360"/>
            <a:ext cx="3520440" cy="38404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3"/>
          <p:cNvSpPr/>
          <p:nvPr/>
        </p:nvSpPr>
        <p:spPr>
          <a:xfrm>
            <a:off x="8412480" y="2011679"/>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3" name="Card heading"/>
          <p:cNvSpPr txBox="1"/>
          <p:nvPr/>
        </p:nvSpPr>
        <p:spPr>
          <a:xfrm>
            <a:off x="8321040" y="2788920"/>
            <a:ext cx="3154680" cy="822960"/>
          </a:xfrm>
          <a:prstGeom prst="rect">
            <a:avLst/>
          </a:prstGeom>
          <a:noFill/>
        </p:spPr>
        <p:txBody>
          <a:bodyPr wrap="square" anchor="t">
            <a:spAutoFit/>
          </a:bodyPr>
          <a:lstStyle/>
          <a:p>
            <a:pPr algn="l"/>
            <a:r>
              <a:rPr sz="2200" b="1" i="0">
                <a:solidFill>
                  <a:srgbClr val="1B2B30"/>
                </a:solidFill>
                <a:latin typeface="Cambria"/>
              </a:rPr>
              <a:t>Not in the guide</a:t>
            </a:r>
          </a:p>
        </p:txBody>
      </p:sp>
      <p:sp>
        <p:nvSpPr>
          <p:cNvPr id="14" name="Card body"/>
          <p:cNvSpPr txBox="1"/>
          <p:nvPr/>
        </p:nvSpPr>
        <p:spPr>
          <a:xfrm>
            <a:off x="8321040" y="3657600"/>
            <a:ext cx="3154680" cy="1783080"/>
          </a:xfrm>
          <a:prstGeom prst="rect">
            <a:avLst/>
          </a:prstGeom>
          <a:noFill/>
        </p:spPr>
        <p:txBody>
          <a:bodyPr wrap="square" anchor="t">
            <a:spAutoFit/>
          </a:bodyPr>
          <a:lstStyle/>
          <a:p>
            <a:pPr algn="l"/>
            <a:r>
              <a:rPr sz="1600" b="0" i="0">
                <a:solidFill>
                  <a:srgbClr val="4F6268"/>
                </a:solidFill>
                <a:latin typeface="Calibri"/>
              </a:rPr>
              <a:t>Ally says "I am not sure. The coach can help" and does not guess.</a:t>
            </a:r>
          </a:p>
        </p:txBody>
      </p:sp>
      <p:sp>
        <p:nvSpPr>
          <p:cNvPr id="15" name="Availability note"/>
          <p:cNvSpPr txBox="1"/>
          <p:nvPr/>
        </p:nvSpPr>
        <p:spPr>
          <a:xfrm>
            <a:off x="548640" y="5852160"/>
            <a:ext cx="10972800" cy="457200"/>
          </a:xfrm>
          <a:prstGeom prst="rect">
            <a:avLst/>
          </a:prstGeom>
          <a:noFill/>
        </p:spPr>
        <p:txBody>
          <a:bodyPr wrap="square" anchor="t">
            <a:spAutoFit/>
          </a:bodyPr>
          <a:lstStyle/>
          <a:p>
            <a:pPr algn="l"/>
            <a:r>
              <a:rPr sz="1600" b="0" i="0">
                <a:solidFill>
                  <a:srgbClr val="4F6268"/>
                </a:solidFill>
                <a:latin typeface="Calibri"/>
              </a:rPr>
              <a:t>Ally cannot tell if the coach is online, so it never says when the coach will reply.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The employer sees the work, not the client's private help</a:t>
            </a:r>
          </a:p>
        </p:txBody>
      </p:sp>
      <p:sp>
        <p:nvSpPr>
          <p:cNvPr id="3" name="Private channel panel"/>
          <p:cNvSpPr/>
          <p:nvPr/>
        </p:nvSpPr>
        <p:spPr>
          <a:xfrm>
            <a:off x="548640" y="1737360"/>
            <a:ext cx="5394960" cy="320040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ivate heading"/>
          <p:cNvSpPr txBox="1"/>
          <p:nvPr/>
        </p:nvSpPr>
        <p:spPr>
          <a:xfrm>
            <a:off x="777240" y="1874519"/>
            <a:ext cx="4937760" cy="457200"/>
          </a:xfrm>
          <a:prstGeom prst="rect">
            <a:avLst/>
          </a:prstGeom>
          <a:noFill/>
        </p:spPr>
        <p:txBody>
          <a:bodyPr wrap="square" anchor="t">
            <a:spAutoFit/>
          </a:bodyPr>
          <a:lstStyle/>
          <a:p>
            <a:pPr algn="l"/>
            <a:r>
              <a:rPr sz="2200" b="1" i="0">
                <a:solidFill>
                  <a:srgbClr val="1B2B30"/>
                </a:solidFill>
                <a:latin typeface="Cambria"/>
              </a:rPr>
              <a:t>Client and coach only</a:t>
            </a:r>
          </a:p>
        </p:txBody>
      </p:sp>
      <p:sp>
        <p:nvSpPr>
          <p:cNvPr id="5" name="Member Client"/>
          <p:cNvSpPr/>
          <p:nvPr/>
        </p:nvSpPr>
        <p:spPr>
          <a:xfrm>
            <a:off x="777240" y="2514600"/>
            <a:ext cx="146304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2B30"/>
                </a:solidFill>
                <a:latin typeface="Calibri"/>
              </a:rPr>
              <a:t>Client</a:t>
            </a:r>
          </a:p>
        </p:txBody>
      </p:sp>
      <p:sp>
        <p:nvSpPr>
          <p:cNvPr id="6" name="Member Coach"/>
          <p:cNvSpPr/>
          <p:nvPr/>
        </p:nvSpPr>
        <p:spPr>
          <a:xfrm>
            <a:off x="2377440" y="2514600"/>
            <a:ext cx="146304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2B30"/>
                </a:solidFill>
                <a:latin typeface="Calibri"/>
              </a:rPr>
              <a:t>Coach</a:t>
            </a:r>
          </a:p>
        </p:txBody>
      </p:sp>
      <p:sp>
        <p:nvSpPr>
          <p:cNvPr id="7" name="Member Ally"/>
          <p:cNvSpPr/>
          <p:nvPr/>
        </p:nvSpPr>
        <p:spPr>
          <a:xfrm>
            <a:off x="3977639" y="2514600"/>
            <a:ext cx="146304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2B30"/>
                </a:solidFill>
                <a:latin typeface="Calibri"/>
              </a:rPr>
              <a:t>Ally</a:t>
            </a:r>
          </a:p>
        </p:txBody>
      </p:sp>
      <p:sp>
        <p:nvSpPr>
          <p:cNvPr id="8" name="Private body"/>
          <p:cNvSpPr txBox="1"/>
          <p:nvPr/>
        </p:nvSpPr>
        <p:spPr>
          <a:xfrm>
            <a:off x="777240" y="3337560"/>
            <a:ext cx="4937760" cy="1371600"/>
          </a:xfrm>
          <a:prstGeom prst="rect">
            <a:avLst/>
          </a:prstGeom>
          <a:noFill/>
        </p:spPr>
        <p:txBody>
          <a:bodyPr wrap="square" anchor="t">
            <a:spAutoFit/>
          </a:bodyPr>
          <a:lstStyle/>
          <a:p>
            <a:pPr algn="l"/>
            <a:r>
              <a:rPr sz="1800" b="0" i="0">
                <a:solidFill>
                  <a:srgbClr val="1B2B30"/>
                </a:solidFill>
                <a:latin typeface="Calibri"/>
              </a:rPr>
              <a:t>Help requests, confusion, and photos belong here.</a:t>
            </a:r>
          </a:p>
        </p:txBody>
      </p:sp>
      <p:sp>
        <p:nvSpPr>
          <p:cNvPr id="9" name="Shared channel panel"/>
          <p:cNvSpPr/>
          <p:nvPr/>
        </p:nvSpPr>
        <p:spPr>
          <a:xfrm>
            <a:off x="6217920" y="1737360"/>
            <a:ext cx="5394960" cy="3200400"/>
          </a:xfrm>
          <a:prstGeom prst="roundRect">
            <a:avLst>
              <a:gd name="adj" fmla="val 8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hared heading"/>
          <p:cNvSpPr txBox="1"/>
          <p:nvPr/>
        </p:nvSpPr>
        <p:spPr>
          <a:xfrm>
            <a:off x="6446520" y="1874519"/>
            <a:ext cx="4937760" cy="457200"/>
          </a:xfrm>
          <a:prstGeom prst="rect">
            <a:avLst/>
          </a:prstGeom>
          <a:noFill/>
        </p:spPr>
        <p:txBody>
          <a:bodyPr wrap="square" anchor="t">
            <a:spAutoFit/>
          </a:bodyPr>
          <a:lstStyle/>
          <a:p>
            <a:pPr algn="l"/>
            <a:r>
              <a:rPr sz="2200" b="1" i="0">
                <a:solidFill>
                  <a:srgbClr val="1B2B30"/>
                </a:solidFill>
                <a:latin typeface="Cambria"/>
              </a:rPr>
              <a:t>Everyone</a:t>
            </a:r>
          </a:p>
        </p:txBody>
      </p:sp>
      <p:sp>
        <p:nvSpPr>
          <p:cNvPr id="11" name="Member Client"/>
          <p:cNvSpPr/>
          <p:nvPr/>
        </p:nvSpPr>
        <p:spPr>
          <a:xfrm>
            <a:off x="6446520" y="2514600"/>
            <a:ext cx="109728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400" b="1">
                <a:solidFill>
                  <a:srgbClr val="1B2B30"/>
                </a:solidFill>
                <a:latin typeface="Calibri"/>
              </a:rPr>
              <a:t>Client</a:t>
            </a:r>
          </a:p>
        </p:txBody>
      </p:sp>
      <p:sp>
        <p:nvSpPr>
          <p:cNvPr id="12" name="Member Coach"/>
          <p:cNvSpPr/>
          <p:nvPr/>
        </p:nvSpPr>
        <p:spPr>
          <a:xfrm>
            <a:off x="7635240" y="2514600"/>
            <a:ext cx="109728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400" b="1">
                <a:solidFill>
                  <a:srgbClr val="1B2B30"/>
                </a:solidFill>
                <a:latin typeface="Calibri"/>
              </a:rPr>
              <a:t>Coach</a:t>
            </a:r>
          </a:p>
        </p:txBody>
      </p:sp>
      <p:sp>
        <p:nvSpPr>
          <p:cNvPr id="13" name="Member Employer"/>
          <p:cNvSpPr/>
          <p:nvPr/>
        </p:nvSpPr>
        <p:spPr>
          <a:xfrm>
            <a:off x="8823960" y="2514600"/>
            <a:ext cx="109728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400" b="1">
                <a:solidFill>
                  <a:srgbClr val="1B2B30"/>
                </a:solidFill>
                <a:latin typeface="Calibri"/>
              </a:rPr>
              <a:t>Employer</a:t>
            </a:r>
          </a:p>
        </p:txBody>
      </p:sp>
      <p:sp>
        <p:nvSpPr>
          <p:cNvPr id="14" name="Member Ally"/>
          <p:cNvSpPr/>
          <p:nvPr/>
        </p:nvSpPr>
        <p:spPr>
          <a:xfrm>
            <a:off x="10012680" y="2514600"/>
            <a:ext cx="1097280"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400" b="1">
                <a:solidFill>
                  <a:srgbClr val="1B2B30"/>
                </a:solidFill>
                <a:latin typeface="Calibri"/>
              </a:rPr>
              <a:t>Ally</a:t>
            </a:r>
          </a:p>
        </p:txBody>
      </p:sp>
      <p:sp>
        <p:nvSpPr>
          <p:cNvPr id="15" name="Shared body"/>
          <p:cNvSpPr txBox="1"/>
          <p:nvPr/>
        </p:nvSpPr>
        <p:spPr>
          <a:xfrm>
            <a:off x="6446520" y="3337560"/>
            <a:ext cx="4937760" cy="1371600"/>
          </a:xfrm>
          <a:prstGeom prst="rect">
            <a:avLst/>
          </a:prstGeom>
          <a:noFill/>
        </p:spPr>
        <p:txBody>
          <a:bodyPr wrap="square" anchor="t">
            <a:spAutoFit/>
          </a:bodyPr>
          <a:lstStyle/>
          <a:p>
            <a:pPr algn="l"/>
            <a:r>
              <a:rPr sz="1800" b="0" i="0">
                <a:solidFill>
                  <a:srgbClr val="1B2B30"/>
                </a:solidFill>
                <a:latin typeface="Calibri"/>
              </a:rPr>
              <a:t>Task steps only. Ally will not discuss how the client is doing or read photos.</a:t>
            </a:r>
          </a:p>
        </p:txBody>
      </p:sp>
      <p:sp>
        <p:nvSpPr>
          <p:cNvPr id="16" name="Quote banner"/>
          <p:cNvSpPr/>
          <p:nvPr/>
        </p:nvSpPr>
        <p:spPr>
          <a:xfrm>
            <a:off x="548640" y="5257800"/>
            <a:ext cx="11064240" cy="868680"/>
          </a:xfrm>
          <a:prstGeom prst="roundRect">
            <a:avLst>
              <a:gd name="adj" fmla="val 8000"/>
            </a:avLst>
          </a:prstGeom>
          <a:solidFill>
            <a:srgbClr val="0B3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Quote"/>
          <p:cNvSpPr txBox="1"/>
          <p:nvPr/>
        </p:nvSpPr>
        <p:spPr>
          <a:xfrm>
            <a:off x="731520" y="5303520"/>
            <a:ext cx="10698480" cy="777240"/>
          </a:xfrm>
          <a:prstGeom prst="rect">
            <a:avLst/>
          </a:prstGeom>
          <a:noFill/>
        </p:spPr>
        <p:txBody>
          <a:bodyPr wrap="square" anchor="ctr">
            <a:spAutoFit/>
          </a:bodyPr>
          <a:lstStyle/>
          <a:p>
            <a:pPr algn="l"/>
            <a:r>
              <a:rPr sz="1800" b="1" i="0">
                <a:solidFill>
                  <a:srgbClr val="FFFFFF"/>
                </a:solidFill>
                <a:latin typeface="Calibri"/>
              </a:rPr>
              <a:t>Employer asks how the client is doing:  "I cannot share that. The client can choose to share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3600" b="1">
                <a:solidFill>
                  <a:srgbClr val="1B2B30"/>
                </a:solidFill>
                <a:latin typeface="Cambria"/>
              </a:rPr>
              <a:t>Built to work with the phone's own accessibility tools</a:t>
            </a:r>
          </a:p>
        </p:txBody>
      </p:sp>
      <p:sp>
        <p:nvSpPr>
          <p:cNvPr id="3" name="Tile: Dictation"/>
          <p:cNvSpPr/>
          <p:nvPr/>
        </p:nvSpPr>
        <p:spPr>
          <a:xfrm>
            <a:off x="548640" y="1737360"/>
            <a:ext cx="5394960" cy="17830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1"/>
          <p:cNvSpPr/>
          <p:nvPr/>
        </p:nvSpPr>
        <p:spPr>
          <a:xfrm>
            <a:off x="822959" y="205740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5" name="Tile heading"/>
          <p:cNvSpPr txBox="1"/>
          <p:nvPr/>
        </p:nvSpPr>
        <p:spPr>
          <a:xfrm>
            <a:off x="1554480" y="1920240"/>
            <a:ext cx="4206240" cy="457200"/>
          </a:xfrm>
          <a:prstGeom prst="rect">
            <a:avLst/>
          </a:prstGeom>
          <a:noFill/>
        </p:spPr>
        <p:txBody>
          <a:bodyPr wrap="square" anchor="t">
            <a:spAutoFit/>
          </a:bodyPr>
          <a:lstStyle/>
          <a:p>
            <a:pPr algn="l"/>
            <a:r>
              <a:rPr sz="2000" b="1" i="0">
                <a:solidFill>
                  <a:srgbClr val="1B2B30"/>
                </a:solidFill>
                <a:latin typeface="Cambria"/>
              </a:rPr>
              <a:t>Dictation</a:t>
            </a:r>
          </a:p>
        </p:txBody>
      </p:sp>
      <p:sp>
        <p:nvSpPr>
          <p:cNvPr id="6" name="Tile body"/>
          <p:cNvSpPr txBox="1"/>
          <p:nvPr/>
        </p:nvSpPr>
        <p:spPr>
          <a:xfrm>
            <a:off x="1554480" y="2468880"/>
            <a:ext cx="4206240" cy="914400"/>
          </a:xfrm>
          <a:prstGeom prst="rect">
            <a:avLst/>
          </a:prstGeom>
          <a:noFill/>
        </p:spPr>
        <p:txBody>
          <a:bodyPr wrap="square" anchor="t">
            <a:spAutoFit/>
          </a:bodyPr>
          <a:lstStyle/>
          <a:p>
            <a:pPr algn="l"/>
            <a:r>
              <a:rPr sz="1600" b="0" i="0">
                <a:solidFill>
                  <a:srgbClr val="4F6268"/>
                </a:solidFill>
                <a:latin typeface="Calibri"/>
              </a:rPr>
              <a:t>Speak a message instead of typing it.</a:t>
            </a:r>
          </a:p>
        </p:txBody>
      </p:sp>
      <p:sp>
        <p:nvSpPr>
          <p:cNvPr id="7" name="Tile: Speak Screen and VoiceOver"/>
          <p:cNvSpPr/>
          <p:nvPr/>
        </p:nvSpPr>
        <p:spPr>
          <a:xfrm>
            <a:off x="6217920" y="1737360"/>
            <a:ext cx="5394960" cy="17830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2"/>
          <p:cNvSpPr/>
          <p:nvPr/>
        </p:nvSpPr>
        <p:spPr>
          <a:xfrm>
            <a:off x="6492240" y="205740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9" name="Tile heading"/>
          <p:cNvSpPr txBox="1"/>
          <p:nvPr/>
        </p:nvSpPr>
        <p:spPr>
          <a:xfrm>
            <a:off x="7223760" y="1920240"/>
            <a:ext cx="4206240" cy="457200"/>
          </a:xfrm>
          <a:prstGeom prst="rect">
            <a:avLst/>
          </a:prstGeom>
          <a:noFill/>
        </p:spPr>
        <p:txBody>
          <a:bodyPr wrap="square" anchor="t">
            <a:spAutoFit/>
          </a:bodyPr>
          <a:lstStyle/>
          <a:p>
            <a:pPr algn="l"/>
            <a:r>
              <a:rPr sz="2000" b="1" i="0">
                <a:solidFill>
                  <a:srgbClr val="1B2B30"/>
                </a:solidFill>
                <a:latin typeface="Cambria"/>
              </a:rPr>
              <a:t>Speak Screen and VoiceOver</a:t>
            </a:r>
          </a:p>
        </p:txBody>
      </p:sp>
      <p:sp>
        <p:nvSpPr>
          <p:cNvPr id="10" name="Tile body"/>
          <p:cNvSpPr txBox="1"/>
          <p:nvPr/>
        </p:nvSpPr>
        <p:spPr>
          <a:xfrm>
            <a:off x="7223760" y="2468880"/>
            <a:ext cx="4206240" cy="914400"/>
          </a:xfrm>
          <a:prstGeom prst="rect">
            <a:avLst/>
          </a:prstGeom>
          <a:noFill/>
        </p:spPr>
        <p:txBody>
          <a:bodyPr wrap="square" anchor="t">
            <a:spAutoFit/>
          </a:bodyPr>
          <a:lstStyle/>
          <a:p>
            <a:pPr algn="l"/>
            <a:r>
              <a:rPr sz="1600" b="0" i="0">
                <a:solidFill>
                  <a:srgbClr val="4F6268"/>
                </a:solidFill>
                <a:latin typeface="Calibri"/>
              </a:rPr>
              <a:t>Hear Ally's replies read aloud.</a:t>
            </a:r>
          </a:p>
        </p:txBody>
      </p:sp>
      <p:sp>
        <p:nvSpPr>
          <p:cNvPr id="11" name="Tile: Larger Text"/>
          <p:cNvSpPr/>
          <p:nvPr/>
        </p:nvSpPr>
        <p:spPr>
          <a:xfrm>
            <a:off x="548640" y="3794760"/>
            <a:ext cx="5394960" cy="17830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3"/>
          <p:cNvSpPr/>
          <p:nvPr/>
        </p:nvSpPr>
        <p:spPr>
          <a:xfrm>
            <a:off x="822959" y="411480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3" name="Tile heading"/>
          <p:cNvSpPr txBox="1"/>
          <p:nvPr/>
        </p:nvSpPr>
        <p:spPr>
          <a:xfrm>
            <a:off x="1554480" y="3977640"/>
            <a:ext cx="4206240" cy="457200"/>
          </a:xfrm>
          <a:prstGeom prst="rect">
            <a:avLst/>
          </a:prstGeom>
          <a:noFill/>
        </p:spPr>
        <p:txBody>
          <a:bodyPr wrap="square" anchor="t">
            <a:spAutoFit/>
          </a:bodyPr>
          <a:lstStyle/>
          <a:p>
            <a:pPr algn="l"/>
            <a:r>
              <a:rPr sz="2000" b="1" i="0">
                <a:solidFill>
                  <a:srgbClr val="1B2B30"/>
                </a:solidFill>
                <a:latin typeface="Cambria"/>
              </a:rPr>
              <a:t>Larger Text</a:t>
            </a:r>
          </a:p>
        </p:txBody>
      </p:sp>
      <p:sp>
        <p:nvSpPr>
          <p:cNvPr id="14" name="Tile body"/>
          <p:cNvSpPr txBox="1"/>
          <p:nvPr/>
        </p:nvSpPr>
        <p:spPr>
          <a:xfrm>
            <a:off x="1554480" y="4526280"/>
            <a:ext cx="4206240" cy="914400"/>
          </a:xfrm>
          <a:prstGeom prst="rect">
            <a:avLst/>
          </a:prstGeom>
          <a:noFill/>
        </p:spPr>
        <p:txBody>
          <a:bodyPr wrap="square" anchor="t">
            <a:spAutoFit/>
          </a:bodyPr>
          <a:lstStyle/>
          <a:p>
            <a:pPr algn="l"/>
            <a:r>
              <a:rPr sz="1600" b="0" i="0">
                <a:solidFill>
                  <a:srgbClr val="4F6268"/>
                </a:solidFill>
                <a:latin typeface="Calibri"/>
              </a:rPr>
              <a:t>Bigger words on the phone, and Ally's replies stay plain.</a:t>
            </a:r>
          </a:p>
        </p:txBody>
      </p:sp>
      <p:sp>
        <p:nvSpPr>
          <p:cNvPr id="15" name="Tile: Guided Access"/>
          <p:cNvSpPr/>
          <p:nvPr/>
        </p:nvSpPr>
        <p:spPr>
          <a:xfrm>
            <a:off x="6217920" y="3794760"/>
            <a:ext cx="5394960" cy="1783080"/>
          </a:xfrm>
          <a:prstGeom prst="roundRect">
            <a:avLst>
              <a:gd name="adj" fmla="val 8000"/>
            </a:avLst>
          </a:prstGeom>
          <a:solidFill>
            <a:srgbClr val="DD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 4"/>
          <p:cNvSpPr/>
          <p:nvPr/>
        </p:nvSpPr>
        <p:spPr>
          <a:xfrm>
            <a:off x="6492240" y="4114800"/>
            <a:ext cx="566928" cy="566928"/>
          </a:xfrm>
          <a:prstGeom prst="ellipse">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7" name="Tile heading"/>
          <p:cNvSpPr txBox="1"/>
          <p:nvPr/>
        </p:nvSpPr>
        <p:spPr>
          <a:xfrm>
            <a:off x="7223760" y="3977640"/>
            <a:ext cx="4206240" cy="457200"/>
          </a:xfrm>
          <a:prstGeom prst="rect">
            <a:avLst/>
          </a:prstGeom>
          <a:noFill/>
        </p:spPr>
        <p:txBody>
          <a:bodyPr wrap="square" anchor="t">
            <a:spAutoFit/>
          </a:bodyPr>
          <a:lstStyle/>
          <a:p>
            <a:pPr algn="l"/>
            <a:r>
              <a:rPr sz="2000" b="1" i="0">
                <a:solidFill>
                  <a:srgbClr val="1B2B30"/>
                </a:solidFill>
                <a:latin typeface="Cambria"/>
              </a:rPr>
              <a:t>Guided Access</a:t>
            </a:r>
          </a:p>
        </p:txBody>
      </p:sp>
      <p:sp>
        <p:nvSpPr>
          <p:cNvPr id="18" name="Tile body"/>
          <p:cNvSpPr txBox="1"/>
          <p:nvPr/>
        </p:nvSpPr>
        <p:spPr>
          <a:xfrm>
            <a:off x="7223760" y="4526280"/>
            <a:ext cx="4206240" cy="914400"/>
          </a:xfrm>
          <a:prstGeom prst="rect">
            <a:avLst/>
          </a:prstGeom>
          <a:noFill/>
        </p:spPr>
        <p:txBody>
          <a:bodyPr wrap="square" anchor="t">
            <a:spAutoFit/>
          </a:bodyPr>
          <a:lstStyle/>
          <a:p>
            <a:pPr algn="l"/>
            <a:r>
              <a:rPr sz="1600" b="0" i="0">
                <a:solidFill>
                  <a:srgbClr val="4F6268"/>
                </a:solidFill>
                <a:latin typeface="Calibri"/>
              </a:rPr>
              <a:t>Lock the phone to one app for a calm screen.</a:t>
            </a:r>
          </a:p>
        </p:txBody>
      </p:sp>
      <p:sp>
        <p:nvSpPr>
          <p:cNvPr id="19" name="Accessibility note"/>
          <p:cNvSpPr txBox="1"/>
          <p:nvPr/>
        </p:nvSpPr>
        <p:spPr>
          <a:xfrm>
            <a:off x="548640" y="5897880"/>
            <a:ext cx="11064240" cy="457200"/>
          </a:xfrm>
          <a:prstGeom prst="rect">
            <a:avLst/>
          </a:prstGeom>
          <a:noFill/>
        </p:spPr>
        <p:txBody>
          <a:bodyPr wrap="square" anchor="t">
            <a:spAutoFit/>
          </a:bodyPr>
          <a:lstStyle/>
          <a:p>
            <a:pPr algn="l"/>
            <a:r>
              <a:rPr sz="1600" b="0" i="0">
                <a:solidFill>
                  <a:srgbClr val="4F6268"/>
                </a:solidFill>
                <a:latin typeface="Calibri"/>
              </a:rPr>
              <a:t>Next: a full keyboard and screen reader pass on a real iPhone. We do not claim compliance.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3C46"/>
        </a:solidFill>
        <a:effectLst/>
      </p:bgPr>
    </p:bg>
    <p:spTree>
      <p:nvGrpSpPr>
        <p:cNvPr id="1" name=""/>
        <p:cNvGrpSpPr/>
        <p:nvPr/>
      </p:nvGrpSpPr>
      <p:grpSpPr/>
      <p:sp>
        <p:nvSpPr>
          <p:cNvPr id="2" name="Title 1"/>
          <p:cNvSpPr>
            <a:spLocks noGrp="1"/>
          </p:cNvSpPr>
          <p:nvPr>
            <p:ph type="title"/>
          </p:nvPr>
        </p:nvSpPr>
        <p:spPr>
          <a:xfrm>
            <a:off x="548640" y="365760"/>
            <a:ext cx="11064240" cy="1234440"/>
          </a:xfrm>
        </p:spPr>
        <p:txBody>
          <a:bodyPr wrap="square" anchor="t"/>
          <a:lstStyle/>
          <a:p>
            <a:pPr algn="l"/>
            <a:r>
              <a:rPr sz="4000" b="1">
                <a:solidFill>
                  <a:srgbClr val="FFFFFF"/>
                </a:solidFill>
                <a:latin typeface="Cambria"/>
              </a:rPr>
              <a:t>A prototype today, real with the right next steps</a:t>
            </a:r>
          </a:p>
        </p:txBody>
      </p:sp>
      <p:sp>
        <p:nvSpPr>
          <p:cNvPr id="3" name="Today panel"/>
          <p:cNvSpPr/>
          <p:nvPr/>
        </p:nvSpPr>
        <p:spPr>
          <a:xfrm>
            <a:off x="548640" y="1737360"/>
            <a:ext cx="5394960" cy="3200400"/>
          </a:xfrm>
          <a:prstGeom prst="roundRect">
            <a:avLst>
              <a:gd name="adj" fmla="val 8000"/>
            </a:avLst>
          </a:prstGeom>
          <a:solidFill>
            <a:srgbClr val="146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oday heading"/>
          <p:cNvSpPr txBox="1"/>
          <p:nvPr/>
        </p:nvSpPr>
        <p:spPr>
          <a:xfrm>
            <a:off x="777240" y="1874519"/>
            <a:ext cx="4937760" cy="457200"/>
          </a:xfrm>
          <a:prstGeom prst="rect">
            <a:avLst/>
          </a:prstGeom>
          <a:noFill/>
        </p:spPr>
        <p:txBody>
          <a:bodyPr wrap="square" anchor="t">
            <a:spAutoFit/>
          </a:bodyPr>
          <a:lstStyle/>
          <a:p>
            <a:pPr algn="l"/>
            <a:r>
              <a:rPr sz="2400" b="1" i="0">
                <a:solidFill>
                  <a:srgbClr val="FFFFFF"/>
                </a:solidFill>
                <a:latin typeface="Cambria"/>
              </a:rPr>
              <a:t>Today</a:t>
            </a:r>
          </a:p>
        </p:txBody>
      </p:sp>
      <p:sp>
        <p:nvSpPr>
          <p:cNvPr id="5" name="Today body"/>
          <p:cNvSpPr txBox="1"/>
          <p:nvPr/>
        </p:nvSpPr>
        <p:spPr>
          <a:xfrm>
            <a:off x="777240" y="2468880"/>
            <a:ext cx="4937760" cy="2377440"/>
          </a:xfrm>
          <a:prstGeom prst="rect">
            <a:avLst/>
          </a:prstGeom>
          <a:noFill/>
        </p:spPr>
        <p:txBody>
          <a:bodyPr wrap="square" anchor="t">
            <a:spAutoFit/>
          </a:bodyPr>
          <a:lstStyle/>
          <a:p>
            <a:pPr algn="l"/>
            <a:r>
              <a:rPr sz="1800" b="0" i="0">
                <a:solidFill>
                  <a:srgbClr val="FFFFFF"/>
                </a:solidFill>
                <a:latin typeface="Calibri"/>
              </a:rPr>
              <a:t>Fictional people and workplace</a:t>
            </a:r>
          </a:p>
          <a:p>
            <a:pPr algn="l"/>
            <a:r>
              <a:rPr sz="1800" b="0" i="0">
                <a:solidFill>
                  <a:srgbClr val="FFFFFF"/>
                </a:solidFill>
                <a:latin typeface="Calibri"/>
              </a:rPr>
              <a:t>Shared demo accounts on one laptop</a:t>
            </a:r>
          </a:p>
          <a:p>
            <a:pPr algn="l"/>
            <a:r>
              <a:rPr sz="1800" b="0" i="0">
                <a:solidFill>
                  <a:srgbClr val="FFFFFF"/>
                </a:solidFill>
                <a:latin typeface="Calibri"/>
              </a:rPr>
              <a:t>The AI helper can be switched off</a:t>
            </a:r>
          </a:p>
        </p:txBody>
      </p:sp>
      <p:sp>
        <p:nvSpPr>
          <p:cNvPr id="6" name="Next panel"/>
          <p:cNvSpPr/>
          <p:nvPr/>
        </p:nvSpPr>
        <p:spPr>
          <a:xfrm>
            <a:off x="6217920" y="1737360"/>
            <a:ext cx="5394960" cy="3200400"/>
          </a:xfrm>
          <a:prstGeom prst="roundRect">
            <a:avLst>
              <a:gd name="adj" fmla="val 8000"/>
            </a:avLst>
          </a:prstGeom>
          <a:solidFill>
            <a:srgbClr val="FDE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Next heading"/>
          <p:cNvSpPr txBox="1"/>
          <p:nvPr/>
        </p:nvSpPr>
        <p:spPr>
          <a:xfrm>
            <a:off x="6446520" y="1874519"/>
            <a:ext cx="4937760" cy="457200"/>
          </a:xfrm>
          <a:prstGeom prst="rect">
            <a:avLst/>
          </a:prstGeom>
          <a:noFill/>
        </p:spPr>
        <p:txBody>
          <a:bodyPr wrap="square" anchor="t">
            <a:spAutoFit/>
          </a:bodyPr>
          <a:lstStyle/>
          <a:p>
            <a:pPr algn="l"/>
            <a:r>
              <a:rPr sz="2400" b="1" i="0">
                <a:solidFill>
                  <a:srgbClr val="1B2B30"/>
                </a:solidFill>
                <a:latin typeface="Cambria"/>
              </a:rPr>
              <a:t>To ship</a:t>
            </a:r>
          </a:p>
        </p:txBody>
      </p:sp>
      <p:sp>
        <p:nvSpPr>
          <p:cNvPr id="8" name="Next body"/>
          <p:cNvSpPr txBox="1"/>
          <p:nvPr/>
        </p:nvSpPr>
        <p:spPr>
          <a:xfrm>
            <a:off x="6446520" y="2468880"/>
            <a:ext cx="4937760" cy="2377440"/>
          </a:xfrm>
          <a:prstGeom prst="rect">
            <a:avLst/>
          </a:prstGeom>
          <a:noFill/>
        </p:spPr>
        <p:txBody>
          <a:bodyPr wrap="square" anchor="t">
            <a:spAutoFit/>
          </a:bodyPr>
          <a:lstStyle/>
          <a:p>
            <a:pPr algn="l"/>
            <a:r>
              <a:rPr sz="1800" b="0" i="0">
                <a:solidFill>
                  <a:srgbClr val="1B2B30"/>
                </a:solidFill>
                <a:latin typeface="Calibri"/>
              </a:rPr>
              <a:t>Real logins and protected transport</a:t>
            </a:r>
          </a:p>
          <a:p>
            <a:pPr algn="l"/>
            <a:r>
              <a:rPr sz="1800" b="0" i="0">
                <a:solidFill>
                  <a:srgbClr val="1B2B30"/>
                </a:solidFill>
                <a:latin typeface="Calibri"/>
              </a:rPr>
              <a:t>Client consent before any AI use</a:t>
            </a:r>
          </a:p>
          <a:p>
            <a:pPr algn="l"/>
            <a:r>
              <a:rPr sz="1800" b="0" i="0">
                <a:solidFill>
                  <a:srgbClr val="1B2B30"/>
                </a:solidFill>
                <a:latin typeface="Calibri"/>
              </a:rPr>
              <a:t>A retention policy and a coach review</a:t>
            </a:r>
          </a:p>
        </p:txBody>
      </p:sp>
      <p:sp>
        <p:nvSpPr>
          <p:cNvPr id="9" name="Closing line"/>
          <p:cNvSpPr txBox="1"/>
          <p:nvPr/>
        </p:nvSpPr>
        <p:spPr>
          <a:xfrm>
            <a:off x="548640" y="5394960"/>
            <a:ext cx="11064240" cy="731520"/>
          </a:xfrm>
          <a:prstGeom prst="rect">
            <a:avLst/>
          </a:prstGeom>
          <a:noFill/>
        </p:spPr>
        <p:txBody>
          <a:bodyPr wrap="square" anchor="t">
            <a:spAutoFit/>
          </a:bodyPr>
          <a:lstStyle/>
          <a:p>
            <a:pPr algn="l"/>
            <a:r>
              <a:rPr sz="3200" b="1" i="0">
                <a:solidFill>
                  <a:srgbClr val="F2A33A"/>
                </a:solidFill>
                <a:latin typeface="Cambria"/>
              </a:rPr>
              <a:t>Supervised. Simple. Private.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Ally: a supervised AI helper for job coaching</dc:title>
  <dc:subject/>
  <dc:creator>Hackreation x ERI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